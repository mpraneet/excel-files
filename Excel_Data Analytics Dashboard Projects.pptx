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 id="261" r:id="rId7"/>
    <p:sldId id="262" r:id="rId8"/>
    <p:sldId id="263" r:id="rId9"/>
    <p:sldId id="264" r:id="rId10"/>
    <p:sldId id="265" r:id="rId11"/>
    <p:sldId id="266" r:id="rId12"/>
    <p:sldId id="267" r:id="rId13"/>
    <p:sldId id="269" r:id="rId14"/>
    <p:sldId id="271" r:id="rId15"/>
    <p:sldId id="270" r:id="rId16"/>
    <p:sldId id="272"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58" d="100"/>
          <a:sy n="58" d="100"/>
        </p:scale>
        <p:origin x="112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E3E83-8483-E2AA-C42C-B1FBA5DA3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97C9000-0546-E422-4A79-06A7E1B7ED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2A20BA-0416-D063-9497-CD40E5F0AB65}"/>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5" name="Footer Placeholder 4">
            <a:extLst>
              <a:ext uri="{FF2B5EF4-FFF2-40B4-BE49-F238E27FC236}">
                <a16:creationId xmlns:a16="http://schemas.microsoft.com/office/drawing/2014/main" id="{E2445A58-7CD7-1D2C-0363-93D7D79F08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EF0094-DC79-DD2C-5079-B26F0B71AF69}"/>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3098056531"/>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4A40-C32D-B9D5-6DCE-B86C2CE287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18DAFC-E762-5A08-54AF-7A28954A68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9D25EE-0F41-C1A2-CF31-0F53C7F080F0}"/>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5" name="Footer Placeholder 4">
            <a:extLst>
              <a:ext uri="{FF2B5EF4-FFF2-40B4-BE49-F238E27FC236}">
                <a16:creationId xmlns:a16="http://schemas.microsoft.com/office/drawing/2014/main" id="{90A9F737-DEA0-4C0F-8877-F72302154A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615451-9ECA-2C92-322C-30BA7D0F6517}"/>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651976553"/>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281BE-AB0D-D258-D4B4-C1AE1DF27A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798C92-0F68-FD9A-C8D0-CA95469836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BB9F6B-932D-9C87-79C0-8BC753E90597}"/>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5" name="Footer Placeholder 4">
            <a:extLst>
              <a:ext uri="{FF2B5EF4-FFF2-40B4-BE49-F238E27FC236}">
                <a16:creationId xmlns:a16="http://schemas.microsoft.com/office/drawing/2014/main" id="{35851D35-3729-7D48-1EC5-5B80F63751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A667F-9DB8-CED7-7FBC-C783FE53EACD}"/>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3302592925"/>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59340-F136-A87F-FB07-B37BFD0FDA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949DFC-AACC-86F6-6033-D00911140E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B3F501-0DC0-03FF-5ED1-A6C55E650E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0B95E8-E438-0EF9-B2A6-8B2C8DCED311}"/>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6" name="Footer Placeholder 5">
            <a:extLst>
              <a:ext uri="{FF2B5EF4-FFF2-40B4-BE49-F238E27FC236}">
                <a16:creationId xmlns:a16="http://schemas.microsoft.com/office/drawing/2014/main" id="{41772E0F-431F-03E2-B503-0C0A5620FF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7890C1-94EB-5DAA-4756-3754D53A66D8}"/>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2103499359"/>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1D992-B92B-4AB3-48CC-4056EFD876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EEAACE-59E5-0103-E9AB-2DE46E64D3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61998F-434C-DD0E-E669-48468E2E4B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BF087EB-F740-85FD-15CA-C2CF23E54D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7BE1CA-F98E-C825-261C-1CB97FD1DB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431B11C-0B5D-B7BA-1268-20A621A0BCF3}"/>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8" name="Footer Placeholder 7">
            <a:extLst>
              <a:ext uri="{FF2B5EF4-FFF2-40B4-BE49-F238E27FC236}">
                <a16:creationId xmlns:a16="http://schemas.microsoft.com/office/drawing/2014/main" id="{B41FA950-767A-949B-23B6-CEBD84C0F5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9BCD02-70F2-72BE-8A67-F4787C745283}"/>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3500341360"/>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6CAB1-D256-1615-6727-FC9BB71A67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C29A9D-1F0D-FE5A-723E-8CF2F923BDFE}"/>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4" name="Footer Placeholder 3">
            <a:extLst>
              <a:ext uri="{FF2B5EF4-FFF2-40B4-BE49-F238E27FC236}">
                <a16:creationId xmlns:a16="http://schemas.microsoft.com/office/drawing/2014/main" id="{E196D86D-C582-64E4-B713-1956B8D25F4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12E4493-A380-0C9E-85BD-9CB137F09E9F}"/>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2263508020"/>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5F6E05-4EEF-3811-514B-E4ACC0CA0A36}"/>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3" name="Footer Placeholder 2">
            <a:extLst>
              <a:ext uri="{FF2B5EF4-FFF2-40B4-BE49-F238E27FC236}">
                <a16:creationId xmlns:a16="http://schemas.microsoft.com/office/drawing/2014/main" id="{6A0C844C-86B3-5A3B-195E-1CBCBD8646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903BB7D-3C58-788F-A5AC-B15BC59251A0}"/>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52755800"/>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1C8FA-BF20-FF8C-9604-53C86F2814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132DA2-09D7-BDB4-12EA-7489865E2A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0F231A-AFDC-1F8D-C20D-12A6068BF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FBB745-5403-4F6E-7C0F-9EC27F9CDD31}"/>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6" name="Footer Placeholder 5">
            <a:extLst>
              <a:ext uri="{FF2B5EF4-FFF2-40B4-BE49-F238E27FC236}">
                <a16:creationId xmlns:a16="http://schemas.microsoft.com/office/drawing/2014/main" id="{56C6A386-3FF0-5336-303E-AAE6EC7076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8939FE-10A2-D177-0D61-5336671A050C}"/>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3386469913"/>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4DFE8-D5EA-2119-2F4D-3B8CAE25DD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66DBAB-F773-544D-8931-83A008DA75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C7ADDEA-F1F2-6484-A3A8-438C0246AD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B9FD9E-EF41-1B57-9520-802513EF3E19}"/>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6" name="Footer Placeholder 5">
            <a:extLst>
              <a:ext uri="{FF2B5EF4-FFF2-40B4-BE49-F238E27FC236}">
                <a16:creationId xmlns:a16="http://schemas.microsoft.com/office/drawing/2014/main" id="{B63A02B3-E1A0-E65A-3F9E-FC51FDCDB8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A372E6-FA3E-2233-EB01-2F1728BC2D57}"/>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2658261767"/>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920C1-5DA5-AFFE-EAC2-159354615B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031FF2-26AD-ED0A-98EF-BBEC3FACF7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B83ED8-3C9B-7499-D2C4-CF0CA0320C0B}"/>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5" name="Footer Placeholder 4">
            <a:extLst>
              <a:ext uri="{FF2B5EF4-FFF2-40B4-BE49-F238E27FC236}">
                <a16:creationId xmlns:a16="http://schemas.microsoft.com/office/drawing/2014/main" id="{2A3DE7C6-5BFE-9180-5229-8D9DC293D3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DF7D15-6B1B-F75D-D1CC-952B4DD33B73}"/>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3017626904"/>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10BD8D-949B-6093-573E-6FB4DD2BBA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A5560A-A5B7-FD42-CCDD-816B6850BA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8533B6-1975-2A3E-AB27-1161F07B3821}"/>
              </a:ext>
            </a:extLst>
          </p:cNvPr>
          <p:cNvSpPr>
            <a:spLocks noGrp="1"/>
          </p:cNvSpPr>
          <p:nvPr>
            <p:ph type="dt" sz="half" idx="10"/>
          </p:nvPr>
        </p:nvSpPr>
        <p:spPr/>
        <p:txBody>
          <a:bodyPr/>
          <a:lstStyle/>
          <a:p>
            <a:fld id="{1FAF891E-63E1-409D-816B-77B25CE174A3}" type="datetimeFigureOut">
              <a:rPr lang="en-IN" smtClean="0"/>
              <a:t>06-02-26</a:t>
            </a:fld>
            <a:endParaRPr lang="en-IN"/>
          </a:p>
        </p:txBody>
      </p:sp>
      <p:sp>
        <p:nvSpPr>
          <p:cNvPr id="5" name="Footer Placeholder 4">
            <a:extLst>
              <a:ext uri="{FF2B5EF4-FFF2-40B4-BE49-F238E27FC236}">
                <a16:creationId xmlns:a16="http://schemas.microsoft.com/office/drawing/2014/main" id="{F5029855-58BC-E10E-476E-5AFE32E700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0EBDA-BA56-3124-A10F-6B9DA8DEE216}"/>
              </a:ext>
            </a:extLst>
          </p:cNvPr>
          <p:cNvSpPr>
            <a:spLocks noGrp="1"/>
          </p:cNvSpPr>
          <p:nvPr>
            <p:ph type="sldNum" sz="quarter" idx="12"/>
          </p:nvPr>
        </p:nvSpPr>
        <p:spPr/>
        <p:txBody>
          <a:bodyPr/>
          <a:lstStyle/>
          <a:p>
            <a:fld id="{93395D34-0B94-4993-AA8B-BFC80801456E}" type="slidenum">
              <a:rPr lang="en-IN" smtClean="0"/>
              <a:t>‹#›</a:t>
            </a:fld>
            <a:endParaRPr lang="en-IN"/>
          </a:p>
        </p:txBody>
      </p:sp>
    </p:spTree>
    <p:extLst>
      <p:ext uri="{BB962C8B-B14F-4D97-AF65-F5344CB8AC3E}">
        <p14:creationId xmlns:p14="http://schemas.microsoft.com/office/powerpoint/2010/main" val="257426954"/>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7000">
              <a:schemeClr val="accent1">
                <a:lumMod val="40000"/>
                <a:lumOff val="60000"/>
              </a:schemeClr>
            </a:gs>
            <a:gs pos="0">
              <a:schemeClr val="accent1">
                <a:lumMod val="60000"/>
                <a:lumOff val="40000"/>
              </a:schemeClr>
            </a:gs>
            <a:gs pos="61000">
              <a:schemeClr val="accent2">
                <a:lumMod val="60000"/>
                <a:lumOff val="40000"/>
              </a:schemeClr>
            </a:gs>
            <a:gs pos="78000">
              <a:srgbClr val="FFC000">
                <a:alpha val="90000"/>
              </a:srgb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0C309-A965-86DE-4936-A3AFA34B0F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DA6C72-C1BC-2778-F200-AED483D37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FA491B-760A-60A9-0B5F-235DA9A82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AF891E-63E1-409D-816B-77B25CE174A3}" type="datetimeFigureOut">
              <a:rPr lang="en-IN" smtClean="0"/>
              <a:t>06-02-26</a:t>
            </a:fld>
            <a:endParaRPr lang="en-IN"/>
          </a:p>
        </p:txBody>
      </p:sp>
      <p:sp>
        <p:nvSpPr>
          <p:cNvPr id="5" name="Footer Placeholder 4">
            <a:extLst>
              <a:ext uri="{FF2B5EF4-FFF2-40B4-BE49-F238E27FC236}">
                <a16:creationId xmlns:a16="http://schemas.microsoft.com/office/drawing/2014/main" id="{382BF102-AFA5-7FBD-9914-F27B5AD7FD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E8A7713-FFE1-9AF5-4EFD-DF0FCB3748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395D34-0B94-4993-AA8B-BFC80801456E}" type="slidenum">
              <a:rPr lang="en-IN" smtClean="0"/>
              <a:t>‹#›</a:t>
            </a:fld>
            <a:endParaRPr lang="en-IN"/>
          </a:p>
        </p:txBody>
      </p:sp>
    </p:spTree>
    <p:extLst>
      <p:ext uri="{BB962C8B-B14F-4D97-AF65-F5344CB8AC3E}">
        <p14:creationId xmlns:p14="http://schemas.microsoft.com/office/powerpoint/2010/main" val="4071865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12CD3-8471-A9EF-7DD6-7BB47B398D39}"/>
              </a:ext>
            </a:extLst>
          </p:cNvPr>
          <p:cNvSpPr>
            <a:spLocks noGrp="1"/>
          </p:cNvSpPr>
          <p:nvPr>
            <p:ph type="ctrTitle"/>
          </p:nvPr>
        </p:nvSpPr>
        <p: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2"/>
          </a:lnRef>
          <a:fillRef idx="2">
            <a:schemeClr val="accent2"/>
          </a:fillRef>
          <a:effectRef idx="1">
            <a:schemeClr val="accent2"/>
          </a:effectRef>
          <a:fontRef idx="minor">
            <a:schemeClr val="dk1"/>
          </a:fontRef>
        </p:style>
        <p:txBody>
          <a:bodyPr/>
          <a:lstStyle/>
          <a:p>
            <a:r>
              <a:rPr lang="en-US" b="1" dirty="0">
                <a:ln w="12700" cmpd="sng">
                  <a:solidFill>
                    <a:schemeClr val="accent2">
                      <a:lumMod val="40000"/>
                      <a:lumOff val="60000"/>
                    </a:schemeClr>
                  </a:solidFill>
                  <a:prstDash val="solid"/>
                </a:ln>
                <a:solidFill>
                  <a:srgbClr val="00B050"/>
                </a:solidFill>
                <a:effectLst>
                  <a:glow rad="101600">
                    <a:schemeClr val="accent4">
                      <a:satMod val="175000"/>
                      <a:alpha val="40000"/>
                    </a:schemeClr>
                  </a:glow>
                </a:effectLst>
              </a:rPr>
              <a:t>Data Analytics Dashboard Projects</a:t>
            </a:r>
            <a:endParaRPr lang="en-IN" b="1" dirty="0">
              <a:ln w="12700" cmpd="sng">
                <a:solidFill>
                  <a:schemeClr val="accent2">
                    <a:lumMod val="40000"/>
                    <a:lumOff val="60000"/>
                  </a:schemeClr>
                </a:solidFill>
                <a:prstDash val="solid"/>
              </a:ln>
              <a:solidFill>
                <a:srgbClr val="00B050"/>
              </a:solidFill>
              <a:effectLst>
                <a:glow rad="101600">
                  <a:schemeClr val="accent4">
                    <a:satMod val="175000"/>
                    <a:alpha val="40000"/>
                  </a:schemeClr>
                </a:glow>
              </a:effectLst>
            </a:endParaRPr>
          </a:p>
        </p:txBody>
      </p:sp>
      <p:sp>
        <p:nvSpPr>
          <p:cNvPr id="3" name="Subtitle 2">
            <a:extLst>
              <a:ext uri="{FF2B5EF4-FFF2-40B4-BE49-F238E27FC236}">
                <a16:creationId xmlns:a16="http://schemas.microsoft.com/office/drawing/2014/main" id="{4D209555-7230-97ED-1A0D-906D7A1813BE}"/>
              </a:ext>
            </a:extLst>
          </p:cNvPr>
          <p:cNvSpPr>
            <a:spLocks noGrp="1"/>
          </p:cNvSpPr>
          <p:nvPr>
            <p:ph type="subTitle" idx="1"/>
          </p:nvPr>
        </p:nvSpPr>
        <p:spPr/>
        <p:txBody>
          <a:bodyPr/>
          <a:lstStyle/>
          <a:p>
            <a:endParaRPr lang="en-US" dirty="0">
              <a:solidFill>
                <a:srgbClr val="00B050"/>
              </a:solidFill>
            </a:endParaRPr>
          </a:p>
          <a:p>
            <a:r>
              <a:rPr lang="en-US" dirty="0">
                <a:solidFill>
                  <a:srgbClr val="00B050"/>
                </a:solidFill>
              </a:rPr>
              <a:t>By </a:t>
            </a:r>
            <a:r>
              <a:rPr lang="en-US" u="sng" dirty="0">
                <a:solidFill>
                  <a:srgbClr val="00B050"/>
                </a:solidFill>
              </a:rPr>
              <a:t>Praneet Mane</a:t>
            </a:r>
            <a:endParaRPr lang="en-IN" u="sng" dirty="0">
              <a:solidFill>
                <a:srgbClr val="00B050"/>
              </a:solidFill>
            </a:endParaRPr>
          </a:p>
        </p:txBody>
      </p:sp>
    </p:spTree>
    <p:extLst>
      <p:ext uri="{BB962C8B-B14F-4D97-AF65-F5344CB8AC3E}">
        <p14:creationId xmlns:p14="http://schemas.microsoft.com/office/powerpoint/2010/main" val="948272075"/>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AD1E9-3A6D-F4BF-8058-ABE7B1AAE396}"/>
              </a:ext>
            </a:extLst>
          </p:cNvPr>
          <p:cNvSpPr>
            <a:spLocks noGrp="1"/>
          </p:cNvSpPr>
          <p:nvPr>
            <p:ph type="title"/>
          </p:nvPr>
        </p:nvSpPr>
        <p:spPr>
          <a:xfrm>
            <a:off x="838200" y="365126"/>
            <a:ext cx="10515600" cy="540000"/>
          </a:xfrm>
        </p:spPr>
        <p:txBody>
          <a:bodyPr>
            <a:normAutofit fontScale="90000"/>
          </a:bodyPr>
          <a:lstStyle/>
          <a:p>
            <a:r>
              <a:rPr lang="en-US" u="sng" dirty="0">
                <a:cs typeface="Segoe UI" panose="020B0502040204020203" pitchFamily="34" charset="0"/>
              </a:rPr>
              <a:t>Introduction</a:t>
            </a:r>
            <a:r>
              <a:rPr lang="en-US" dirty="0"/>
              <a:t>:					</a:t>
            </a:r>
            <a:endParaRPr lang="en-IN" dirty="0"/>
          </a:p>
        </p:txBody>
      </p:sp>
      <p:sp>
        <p:nvSpPr>
          <p:cNvPr id="3" name="Content Placeholder 2">
            <a:extLst>
              <a:ext uri="{FF2B5EF4-FFF2-40B4-BE49-F238E27FC236}">
                <a16:creationId xmlns:a16="http://schemas.microsoft.com/office/drawing/2014/main" id="{BFF09FDC-EC47-2084-1F11-19EBCEF0AC46}"/>
              </a:ext>
            </a:extLst>
          </p:cNvPr>
          <p:cNvSpPr>
            <a:spLocks noGrp="1"/>
          </p:cNvSpPr>
          <p:nvPr>
            <p:ph idx="1"/>
          </p:nvPr>
        </p:nvSpPr>
        <p:spPr>
          <a:xfrm>
            <a:off x="838200" y="1090863"/>
            <a:ext cx="10515600" cy="5086100"/>
          </a:xfrm>
        </p:spPr>
        <p:txBody>
          <a:bodyPr>
            <a:normAutofit/>
          </a:bodyPr>
          <a:lstStyle/>
          <a:p>
            <a:r>
              <a:rPr lang="en-US" sz="2400" dirty="0"/>
              <a:t>To represent various Dashboards made in Excel Spreadsheet Books, we have clubbed some Dashboard work information in this PowerPoint Presentations.</a:t>
            </a:r>
          </a:p>
          <a:p>
            <a:r>
              <a:rPr lang="en-IN" sz="2400" dirty="0"/>
              <a:t>There are minimum 2-3 Dashboards made inside Microsoft Excel Application software.</a:t>
            </a:r>
          </a:p>
          <a:p>
            <a:r>
              <a:rPr lang="en-IN" sz="2400" dirty="0"/>
              <a:t>In this Ppt, we have put some summarized information about each and every company’s data analysis and put on few images for clarity about look and structuring of each Dashboard displayed inside Spreadsheets.</a:t>
            </a:r>
          </a:p>
          <a:p>
            <a:r>
              <a:rPr lang="en-IN" sz="2400" dirty="0"/>
              <a:t>Here are few projects of Excel based Data Analytics projects:</a:t>
            </a:r>
          </a:p>
          <a:p>
            <a:pPr marL="457200" indent="-457200">
              <a:buAutoNum type="alphaLcPeriod"/>
            </a:pPr>
            <a:r>
              <a:rPr lang="en-IN" sz="2400" dirty="0"/>
              <a:t>“Hotel Bookings Cancellations.”</a:t>
            </a:r>
          </a:p>
          <a:p>
            <a:pPr marL="457200" indent="-457200">
              <a:buAutoNum type="alphaLcPeriod"/>
            </a:pPr>
            <a:r>
              <a:rPr lang="en-IN" sz="2400" dirty="0"/>
              <a:t>“</a:t>
            </a:r>
            <a:r>
              <a:rPr lang="en-IN" sz="2400" dirty="0" err="1"/>
              <a:t>DMart</a:t>
            </a:r>
            <a:r>
              <a:rPr lang="en-IN" sz="2400" dirty="0"/>
              <a:t> Sales Analytics.”</a:t>
            </a:r>
          </a:p>
          <a:p>
            <a:pPr marL="457200" indent="-457200">
              <a:buAutoNum type="alphaLcPeriod"/>
            </a:pPr>
            <a:r>
              <a:rPr lang="en-IN" sz="2400" dirty="0"/>
              <a:t>“</a:t>
            </a:r>
            <a:r>
              <a:rPr lang="en-IN" sz="2400" dirty="0" err="1"/>
              <a:t>Blinkit</a:t>
            </a:r>
            <a:r>
              <a:rPr lang="en-IN" sz="2400" dirty="0"/>
              <a:t> Grocery Data Analytics.”</a:t>
            </a:r>
          </a:p>
          <a:p>
            <a:pPr marL="457200" indent="-457200">
              <a:buAutoNum type="alphaLcPeriod"/>
            </a:pPr>
            <a:r>
              <a:rPr lang="en-IN" sz="2400" dirty="0"/>
              <a:t> “Amazon Sales Dashboard.”</a:t>
            </a:r>
          </a:p>
        </p:txBody>
      </p:sp>
    </p:spTree>
    <p:extLst>
      <p:ext uri="{BB962C8B-B14F-4D97-AF65-F5344CB8AC3E}">
        <p14:creationId xmlns:p14="http://schemas.microsoft.com/office/powerpoint/2010/main" val="2448238292"/>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A8B4E-D0AA-50DA-3C5A-1AFFCB733291}"/>
              </a:ext>
            </a:extLst>
          </p:cNvPr>
          <p:cNvSpPr>
            <a:spLocks noGrp="1"/>
          </p:cNvSpPr>
          <p:nvPr>
            <p:ph type="title"/>
          </p:nvPr>
        </p:nvSpPr>
        <p:spPr>
          <a:xfrm>
            <a:off x="838200" y="365125"/>
            <a:ext cx="10515600" cy="540000"/>
          </a:xfrm>
        </p:spPr>
        <p:txBody>
          <a:bodyPr>
            <a:noAutofit/>
          </a:bodyPr>
          <a:lstStyle/>
          <a:p>
            <a:r>
              <a:rPr lang="en-US" sz="3200" b="1" dirty="0"/>
              <a:t>1. </a:t>
            </a:r>
            <a:r>
              <a:rPr lang="en-US" sz="3200" b="1" u="sng" dirty="0"/>
              <a:t>Hotel Booking Cancellations</a:t>
            </a:r>
            <a:r>
              <a:rPr lang="en-US" sz="3200" b="1" dirty="0"/>
              <a:t>:</a:t>
            </a:r>
            <a:r>
              <a:rPr lang="en-US" sz="3200" dirty="0"/>
              <a:t>  </a:t>
            </a:r>
            <a:endParaRPr lang="en-IN" sz="3200" dirty="0"/>
          </a:p>
        </p:txBody>
      </p:sp>
      <p:sp>
        <p:nvSpPr>
          <p:cNvPr id="3" name="Content Placeholder 2">
            <a:extLst>
              <a:ext uri="{FF2B5EF4-FFF2-40B4-BE49-F238E27FC236}">
                <a16:creationId xmlns:a16="http://schemas.microsoft.com/office/drawing/2014/main" id="{9329BF5D-7575-5AC9-AE2B-242EE02663D1}"/>
              </a:ext>
            </a:extLst>
          </p:cNvPr>
          <p:cNvSpPr>
            <a:spLocks noGrp="1"/>
          </p:cNvSpPr>
          <p:nvPr>
            <p:ph idx="1"/>
          </p:nvPr>
        </p:nvSpPr>
        <p:spPr>
          <a:xfrm>
            <a:off x="838200" y="1090863"/>
            <a:ext cx="10515600" cy="5086100"/>
          </a:xfrm>
        </p:spPr>
        <p:txBody>
          <a:bodyPr/>
          <a:lstStyle/>
          <a:p>
            <a:r>
              <a:rPr lang="en-US" sz="2400" dirty="0"/>
              <a:t>The Data in Excel sheet has some features (columns) that would help find the actual reasons for hotel bookings cancellations.</a:t>
            </a:r>
          </a:p>
          <a:p>
            <a:r>
              <a:rPr lang="en-IN" sz="2400" dirty="0"/>
              <a:t>We consider columns like arrival date, guest type, room booking status, monthly guests arrival count, total bookings and cancellations year wise.</a:t>
            </a:r>
          </a:p>
          <a:p>
            <a:r>
              <a:rPr lang="en-IN" sz="2400" dirty="0"/>
              <a:t>For this, we can formulate to first find out columns to visualize it in Excel using Charts.</a:t>
            </a:r>
          </a:p>
          <a:p>
            <a:r>
              <a:rPr lang="en-IN" sz="2400" dirty="0"/>
              <a:t>We use Pivot Tables to select particular columns in other Sheet of same Workbook to represent on Charts like Multiple Bar chart, Pie chart, Doughnut chart.</a:t>
            </a:r>
          </a:p>
          <a:p>
            <a:r>
              <a:rPr lang="en-IN" sz="2400" dirty="0"/>
              <a:t>Lastly, we use new Blank Sheet for </a:t>
            </a:r>
            <a:r>
              <a:rPr lang="en-US" sz="2400" dirty="0"/>
              <a:t>Visualizing and grouping all charts by connecting each other using Slicer connections on Colored background sheet.</a:t>
            </a:r>
            <a:endParaRPr lang="en-IN" sz="2400" dirty="0"/>
          </a:p>
          <a:p>
            <a:endParaRPr lang="en-IN" sz="2400" dirty="0"/>
          </a:p>
        </p:txBody>
      </p:sp>
    </p:spTree>
    <p:extLst>
      <p:ext uri="{BB962C8B-B14F-4D97-AF65-F5344CB8AC3E}">
        <p14:creationId xmlns:p14="http://schemas.microsoft.com/office/powerpoint/2010/main" val="3287132940"/>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A5C380-F769-6BA5-AA08-1FEEB5F54005}"/>
              </a:ext>
            </a:extLst>
          </p:cNvPr>
          <p:cNvSpPr>
            <a:spLocks noGrp="1"/>
          </p:cNvSpPr>
          <p:nvPr>
            <p:ph idx="1"/>
          </p:nvPr>
        </p:nvSpPr>
        <p:spPr>
          <a:xfrm>
            <a:off x="625642" y="304800"/>
            <a:ext cx="10908632" cy="6176211"/>
          </a:xfrm>
        </p:spPr>
        <p:txBody>
          <a:bodyPr/>
          <a:lstStyle/>
          <a:p>
            <a:r>
              <a:rPr lang="en-US" dirty="0"/>
              <a:t>Here we see the Hotel Bookings Data in Excel format as below:</a:t>
            </a:r>
            <a:endParaRPr lang="en-IN" dirty="0"/>
          </a:p>
        </p:txBody>
      </p:sp>
      <p:pic>
        <p:nvPicPr>
          <p:cNvPr id="4" name="Picture 3">
            <a:extLst>
              <a:ext uri="{FF2B5EF4-FFF2-40B4-BE49-F238E27FC236}">
                <a16:creationId xmlns:a16="http://schemas.microsoft.com/office/drawing/2014/main" id="{FC104305-6366-4CBA-3FDF-BD9027F2F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726" y="886635"/>
            <a:ext cx="10908633" cy="5594376"/>
          </a:xfrm>
          <a:prstGeom prst="rect">
            <a:avLst/>
          </a:prstGeom>
        </p:spPr>
      </p:pic>
    </p:spTree>
    <p:extLst>
      <p:ext uri="{BB962C8B-B14F-4D97-AF65-F5344CB8AC3E}">
        <p14:creationId xmlns:p14="http://schemas.microsoft.com/office/powerpoint/2010/main" val="4171280358"/>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2F7F6F-0B6A-6E25-51D6-FB8A37BCFBBA}"/>
              </a:ext>
            </a:extLst>
          </p:cNvPr>
          <p:cNvSpPr>
            <a:spLocks noGrp="1"/>
          </p:cNvSpPr>
          <p:nvPr>
            <p:ph idx="1"/>
          </p:nvPr>
        </p:nvSpPr>
        <p:spPr>
          <a:xfrm>
            <a:off x="577516" y="401053"/>
            <a:ext cx="11069052" cy="6079958"/>
          </a:xfrm>
        </p:spPr>
        <p:txBody>
          <a:bodyPr/>
          <a:lstStyle/>
          <a:p>
            <a:r>
              <a:rPr lang="en-US" dirty="0"/>
              <a:t>The Dashboard made using given Excel data is as follows:</a:t>
            </a:r>
            <a:endParaRPr lang="en-IN" dirty="0"/>
          </a:p>
        </p:txBody>
      </p:sp>
      <p:pic>
        <p:nvPicPr>
          <p:cNvPr id="6" name="Picture 5">
            <a:extLst>
              <a:ext uri="{FF2B5EF4-FFF2-40B4-BE49-F238E27FC236}">
                <a16:creationId xmlns:a16="http://schemas.microsoft.com/office/drawing/2014/main" id="{CCF6317D-269B-10C4-F9B0-5C7987EF3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515" y="952304"/>
            <a:ext cx="11069053" cy="5504644"/>
          </a:xfrm>
          <a:prstGeom prst="rect">
            <a:avLst/>
          </a:prstGeom>
        </p:spPr>
      </p:pic>
    </p:spTree>
    <p:extLst>
      <p:ext uri="{BB962C8B-B14F-4D97-AF65-F5344CB8AC3E}">
        <p14:creationId xmlns:p14="http://schemas.microsoft.com/office/powerpoint/2010/main" val="3442216613"/>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E642B-D978-0EBB-09C7-C11F9F6E76A4}"/>
              </a:ext>
            </a:extLst>
          </p:cNvPr>
          <p:cNvSpPr>
            <a:spLocks noGrp="1"/>
          </p:cNvSpPr>
          <p:nvPr>
            <p:ph type="title"/>
          </p:nvPr>
        </p:nvSpPr>
        <p:spPr>
          <a:xfrm>
            <a:off x="838200" y="365125"/>
            <a:ext cx="10515600" cy="540000"/>
          </a:xfrm>
        </p:spPr>
        <p:txBody>
          <a:bodyPr>
            <a:noAutofit/>
          </a:bodyPr>
          <a:lstStyle/>
          <a:p>
            <a:r>
              <a:rPr lang="en-US" sz="2800" b="1" dirty="0"/>
              <a:t>2. </a:t>
            </a:r>
            <a:r>
              <a:rPr lang="en-US" sz="2800" b="1" u="sng" dirty="0"/>
              <a:t>D-Mart Sales and Profit Data Analytics</a:t>
            </a:r>
            <a:r>
              <a:rPr lang="en-US" sz="2800" b="1" dirty="0"/>
              <a:t>:</a:t>
            </a:r>
            <a:endParaRPr lang="en-IN" sz="2800" b="1" dirty="0"/>
          </a:p>
        </p:txBody>
      </p:sp>
      <p:sp>
        <p:nvSpPr>
          <p:cNvPr id="3" name="Content Placeholder 2">
            <a:extLst>
              <a:ext uri="{FF2B5EF4-FFF2-40B4-BE49-F238E27FC236}">
                <a16:creationId xmlns:a16="http://schemas.microsoft.com/office/drawing/2014/main" id="{F9108B0B-8F1A-53E7-ADF6-B4843A5B09FE}"/>
              </a:ext>
            </a:extLst>
          </p:cNvPr>
          <p:cNvSpPr>
            <a:spLocks noGrp="1"/>
          </p:cNvSpPr>
          <p:nvPr>
            <p:ph idx="1"/>
          </p:nvPr>
        </p:nvSpPr>
        <p:spPr>
          <a:xfrm>
            <a:off x="641445" y="1058779"/>
            <a:ext cx="10877265" cy="5434096"/>
          </a:xfrm>
        </p:spPr>
        <p:txBody>
          <a:bodyPr>
            <a:normAutofit/>
          </a:bodyPr>
          <a:lstStyle/>
          <a:p>
            <a:r>
              <a:rPr lang="en-US" sz="2000" dirty="0"/>
              <a:t>D-Mart is in a FMCG Business. Here, we find out Sales and Profit of Grocery section and for few Supermarkets of D-Mart. </a:t>
            </a:r>
          </a:p>
          <a:p>
            <a:r>
              <a:rPr lang="en-IN" sz="2000" dirty="0"/>
              <a:t>We have taken practice dataset of random FMCG business, so we name it as D-Mart Data. Firstly, data is cleaned if required using Power Query or unused columns removed.</a:t>
            </a:r>
          </a:p>
          <a:p>
            <a:r>
              <a:rPr lang="en-IN" sz="2000" dirty="0"/>
              <a:t>We bifurcate our finding as Sales Analytics and Profit Analytics. One of the coloured blank sheet shows Sales data, as per category, region, Shipping mode, segment wise sales.</a:t>
            </a:r>
          </a:p>
          <a:p>
            <a:r>
              <a:rPr lang="en-IN" sz="2000" dirty="0"/>
              <a:t>We add a Slider for adjusting month wise sale insights to slide for particular duration of  months.</a:t>
            </a:r>
          </a:p>
          <a:p>
            <a:r>
              <a:rPr lang="en-IN" sz="2000" dirty="0"/>
              <a:t>Also subcategory and state wise sales are taken into consideration. We use mostly Pie charts, Bar chart and some Slicers. All charts are interconnected to slicers and slider.</a:t>
            </a:r>
          </a:p>
          <a:p>
            <a:r>
              <a:rPr lang="en-IN" sz="2000" dirty="0"/>
              <a:t>We take another Blank sheet and show Profit Analytics in same Workbook. We copy down same Slider to this sheet and just add subcategory slicer with bar chart showing the slicer contents.</a:t>
            </a:r>
          </a:p>
          <a:p>
            <a:r>
              <a:rPr lang="en-IN" sz="2000" dirty="0"/>
              <a:t>The profit for each subcategory is shown separately for showing profit numbers clearly. All things are made interconnected.</a:t>
            </a:r>
          </a:p>
          <a:p>
            <a:endParaRPr lang="en-IN" sz="2000" dirty="0"/>
          </a:p>
          <a:p>
            <a:endParaRPr lang="en-IN" sz="2000" dirty="0"/>
          </a:p>
        </p:txBody>
      </p:sp>
    </p:spTree>
    <p:extLst>
      <p:ext uri="{BB962C8B-B14F-4D97-AF65-F5344CB8AC3E}">
        <p14:creationId xmlns:p14="http://schemas.microsoft.com/office/powerpoint/2010/main" val="43327994"/>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378773-7B71-D13B-A1DE-FF81424827FA}"/>
              </a:ext>
            </a:extLst>
          </p:cNvPr>
          <p:cNvSpPr>
            <a:spLocks noGrp="1"/>
          </p:cNvSpPr>
          <p:nvPr>
            <p:ph idx="1"/>
          </p:nvPr>
        </p:nvSpPr>
        <p:spPr>
          <a:xfrm>
            <a:off x="609599" y="385010"/>
            <a:ext cx="11069053" cy="5999747"/>
          </a:xfrm>
        </p:spPr>
        <p:txBody>
          <a:bodyPr/>
          <a:lstStyle/>
          <a:p>
            <a:r>
              <a:rPr lang="en-US" dirty="0"/>
              <a:t>The Excel data available for creating Insights is as below:</a:t>
            </a:r>
          </a:p>
          <a:p>
            <a:pPr marL="0" indent="0">
              <a:buNone/>
            </a:pPr>
            <a:endParaRPr lang="en-IN" dirty="0"/>
          </a:p>
        </p:txBody>
      </p:sp>
      <p:pic>
        <p:nvPicPr>
          <p:cNvPr id="4" name="Picture 3">
            <a:extLst>
              <a:ext uri="{FF2B5EF4-FFF2-40B4-BE49-F238E27FC236}">
                <a16:creationId xmlns:a16="http://schemas.microsoft.com/office/drawing/2014/main" id="{A87187CF-3BF9-B45F-7B12-711B79322A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348" y="1080351"/>
            <a:ext cx="11165304" cy="5392639"/>
          </a:xfrm>
          <a:prstGeom prst="rect">
            <a:avLst/>
          </a:prstGeom>
        </p:spPr>
      </p:pic>
    </p:spTree>
    <p:extLst>
      <p:ext uri="{BB962C8B-B14F-4D97-AF65-F5344CB8AC3E}">
        <p14:creationId xmlns:p14="http://schemas.microsoft.com/office/powerpoint/2010/main" val="3188524831"/>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E1FC57-E432-8A53-C781-65442D53F36F}"/>
              </a:ext>
            </a:extLst>
          </p:cNvPr>
          <p:cNvSpPr>
            <a:spLocks noGrp="1"/>
          </p:cNvSpPr>
          <p:nvPr>
            <p:ph idx="1"/>
          </p:nvPr>
        </p:nvSpPr>
        <p:spPr>
          <a:xfrm>
            <a:off x="689811" y="481263"/>
            <a:ext cx="10876547" cy="6015790"/>
          </a:xfrm>
        </p:spPr>
        <p:txBody>
          <a:bodyPr/>
          <a:lstStyle/>
          <a:p>
            <a:r>
              <a:rPr lang="en-US" dirty="0"/>
              <a:t>The Dashboard for D-Mart Sales Analytics  in Excel :</a:t>
            </a:r>
            <a:endParaRPr lang="en-IN" dirty="0"/>
          </a:p>
        </p:txBody>
      </p:sp>
      <p:pic>
        <p:nvPicPr>
          <p:cNvPr id="6" name="Picture 5">
            <a:extLst>
              <a:ext uri="{FF2B5EF4-FFF2-40B4-BE49-F238E27FC236}">
                <a16:creationId xmlns:a16="http://schemas.microsoft.com/office/drawing/2014/main" id="{0CF9B836-860C-2F43-F6A5-48CA8283C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642" y="1093801"/>
            <a:ext cx="10940716" cy="5282936"/>
          </a:xfrm>
          <a:prstGeom prst="rect">
            <a:avLst/>
          </a:prstGeom>
        </p:spPr>
      </p:pic>
    </p:spTree>
    <p:extLst>
      <p:ext uri="{BB962C8B-B14F-4D97-AF65-F5344CB8AC3E}">
        <p14:creationId xmlns:p14="http://schemas.microsoft.com/office/powerpoint/2010/main" val="921227351"/>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B8C679-26B1-85B2-C334-23C3CE0ABC10}"/>
              </a:ext>
            </a:extLst>
          </p:cNvPr>
          <p:cNvSpPr>
            <a:spLocks noGrp="1"/>
          </p:cNvSpPr>
          <p:nvPr>
            <p:ph idx="1"/>
          </p:nvPr>
        </p:nvSpPr>
        <p:spPr>
          <a:xfrm>
            <a:off x="705853" y="465220"/>
            <a:ext cx="10892589" cy="5983705"/>
          </a:xfrm>
        </p:spPr>
        <p:txBody>
          <a:bodyPr/>
          <a:lstStyle/>
          <a:p>
            <a:r>
              <a:rPr lang="en-US" dirty="0"/>
              <a:t>The Profit Analytics for D-Mart Excel data is: </a:t>
            </a:r>
            <a:endParaRPr lang="en-IN" dirty="0"/>
          </a:p>
        </p:txBody>
      </p:sp>
      <p:pic>
        <p:nvPicPr>
          <p:cNvPr id="4" name="Picture 3">
            <a:extLst>
              <a:ext uri="{FF2B5EF4-FFF2-40B4-BE49-F238E27FC236}">
                <a16:creationId xmlns:a16="http://schemas.microsoft.com/office/drawing/2014/main" id="{97DC4CC8-4446-E100-6538-C60DFC61D5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853" y="1075286"/>
            <a:ext cx="10780294" cy="5317494"/>
          </a:xfrm>
          <a:prstGeom prst="rect">
            <a:avLst/>
          </a:prstGeom>
        </p:spPr>
      </p:pic>
    </p:spTree>
    <p:extLst>
      <p:ext uri="{BB962C8B-B14F-4D97-AF65-F5344CB8AC3E}">
        <p14:creationId xmlns:p14="http://schemas.microsoft.com/office/powerpoint/2010/main" val="2961259565"/>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41F1C-3367-59B6-FDB3-2621DE866616}"/>
              </a:ext>
            </a:extLst>
          </p:cNvPr>
          <p:cNvSpPr>
            <a:spLocks noGrp="1"/>
          </p:cNvSpPr>
          <p:nvPr>
            <p:ph type="title"/>
          </p:nvPr>
        </p:nvSpPr>
        <p:spPr>
          <a:xfrm>
            <a:off x="838200" y="365125"/>
            <a:ext cx="10515600" cy="540000"/>
          </a:xfrm>
        </p:spPr>
        <p:txBody>
          <a:bodyPr>
            <a:noAutofit/>
          </a:bodyPr>
          <a:lstStyle/>
          <a:p>
            <a:r>
              <a:rPr lang="en-US" sz="3200" b="1" dirty="0"/>
              <a:t>3. </a:t>
            </a:r>
            <a:r>
              <a:rPr lang="en-US" sz="3200" b="1" u="sng" dirty="0" err="1"/>
              <a:t>Blinkit</a:t>
            </a:r>
            <a:r>
              <a:rPr lang="en-US" sz="3200" b="1" u="sng" dirty="0"/>
              <a:t> Grocery Data Analytics</a:t>
            </a:r>
            <a:r>
              <a:rPr lang="en-US" sz="3200" b="1" dirty="0"/>
              <a:t>:</a:t>
            </a:r>
            <a:endParaRPr lang="en-IN" sz="3200" b="1" dirty="0"/>
          </a:p>
        </p:txBody>
      </p:sp>
      <p:sp>
        <p:nvSpPr>
          <p:cNvPr id="3" name="Content Placeholder 2">
            <a:extLst>
              <a:ext uri="{FF2B5EF4-FFF2-40B4-BE49-F238E27FC236}">
                <a16:creationId xmlns:a16="http://schemas.microsoft.com/office/drawing/2014/main" id="{68056D33-5C29-3E0D-2655-D0A3944643A4}"/>
              </a:ext>
            </a:extLst>
          </p:cNvPr>
          <p:cNvSpPr>
            <a:spLocks noGrp="1"/>
          </p:cNvSpPr>
          <p:nvPr>
            <p:ph idx="1"/>
          </p:nvPr>
        </p:nvSpPr>
        <p:spPr>
          <a:xfrm>
            <a:off x="838200" y="1074821"/>
            <a:ext cx="10515600" cy="5418054"/>
          </a:xfrm>
        </p:spPr>
        <p:txBody>
          <a:bodyPr>
            <a:normAutofit/>
          </a:bodyPr>
          <a:lstStyle/>
          <a:p>
            <a:r>
              <a:rPr lang="en-US" sz="2400" dirty="0" err="1"/>
              <a:t>Blinkit</a:t>
            </a:r>
            <a:r>
              <a:rPr lang="en-US" sz="2400" dirty="0"/>
              <a:t> is a Quick Commerce Private Company to deliver daily usable  household items with fresh groceries within a few minute’s doorstep anytime online.</a:t>
            </a:r>
          </a:p>
          <a:p>
            <a:r>
              <a:rPr lang="en-IN" sz="2400" dirty="0"/>
              <a:t>Here we Visualize </a:t>
            </a:r>
            <a:r>
              <a:rPr lang="en-IN" sz="2400" dirty="0" err="1"/>
              <a:t>Blinkit</a:t>
            </a:r>
            <a:r>
              <a:rPr lang="en-IN" sz="2400" dirty="0"/>
              <a:t> Excel Grocery data on basis of Outlet size, Location and item categories.</a:t>
            </a:r>
          </a:p>
          <a:p>
            <a:r>
              <a:rPr lang="en-IN" sz="2400" dirty="0"/>
              <a:t>We also Find out Outlet Size based Total Sales, Average sales for each category type and Count of items and show Fat content in Foods ordered by Doughnut chart for health </a:t>
            </a:r>
            <a:r>
              <a:rPr lang="en-US" sz="2400" dirty="0"/>
              <a:t>conscious app users.</a:t>
            </a:r>
            <a:endParaRPr lang="en-IN" sz="2400" dirty="0"/>
          </a:p>
          <a:p>
            <a:r>
              <a:rPr lang="en-IN" sz="2400" dirty="0"/>
              <a:t>Outlet Year wise sales for each item type is plotted on Area chart.</a:t>
            </a:r>
          </a:p>
          <a:p>
            <a:r>
              <a:rPr lang="en-IN" sz="2400" dirty="0"/>
              <a:t>We use Home icon to go into Pivot chart sheet and Database icon for going back to Excel data.</a:t>
            </a:r>
          </a:p>
          <a:p>
            <a:r>
              <a:rPr lang="en-IN" sz="2400" dirty="0"/>
              <a:t>All the charts are interconnected to Pivot charts and Pivot Slicers.</a:t>
            </a:r>
          </a:p>
          <a:p>
            <a:endParaRPr lang="en-IN" sz="2400" dirty="0"/>
          </a:p>
          <a:p>
            <a:endParaRPr lang="en-IN" sz="2000" dirty="0"/>
          </a:p>
        </p:txBody>
      </p:sp>
    </p:spTree>
    <p:extLst>
      <p:ext uri="{BB962C8B-B14F-4D97-AF65-F5344CB8AC3E}">
        <p14:creationId xmlns:p14="http://schemas.microsoft.com/office/powerpoint/2010/main" val="4264116532"/>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529648-034B-E267-495B-84A52BC5769F}"/>
              </a:ext>
            </a:extLst>
          </p:cNvPr>
          <p:cNvSpPr>
            <a:spLocks noGrp="1"/>
          </p:cNvSpPr>
          <p:nvPr>
            <p:ph idx="1"/>
          </p:nvPr>
        </p:nvSpPr>
        <p:spPr>
          <a:xfrm>
            <a:off x="625642" y="513347"/>
            <a:ext cx="11004884" cy="5999748"/>
          </a:xfrm>
        </p:spPr>
        <p:txBody>
          <a:bodyPr/>
          <a:lstStyle/>
          <a:p>
            <a:r>
              <a:rPr lang="en-US" dirty="0"/>
              <a:t>The Excel data with us about </a:t>
            </a:r>
            <a:r>
              <a:rPr lang="en-US" dirty="0" err="1"/>
              <a:t>Blinkit</a:t>
            </a:r>
            <a:r>
              <a:rPr lang="en-US" dirty="0"/>
              <a:t> Grocery Sales and Profit is:</a:t>
            </a:r>
            <a:endParaRPr lang="en-IN" dirty="0"/>
          </a:p>
        </p:txBody>
      </p:sp>
      <p:pic>
        <p:nvPicPr>
          <p:cNvPr id="6" name="Picture 5">
            <a:extLst>
              <a:ext uri="{FF2B5EF4-FFF2-40B4-BE49-F238E27FC236}">
                <a16:creationId xmlns:a16="http://schemas.microsoft.com/office/drawing/2014/main" id="{0EC19353-4644-FC98-ADDB-6C467888E9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642" y="980902"/>
            <a:ext cx="11004884" cy="5480444"/>
          </a:xfrm>
          <a:prstGeom prst="rect">
            <a:avLst/>
          </a:prstGeom>
        </p:spPr>
      </p:pic>
    </p:spTree>
    <p:extLst>
      <p:ext uri="{BB962C8B-B14F-4D97-AF65-F5344CB8AC3E}">
        <p14:creationId xmlns:p14="http://schemas.microsoft.com/office/powerpoint/2010/main" val="4022694522"/>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07BD3C-16D5-7F4B-3F97-11C566131C86}"/>
              </a:ext>
            </a:extLst>
          </p:cNvPr>
          <p:cNvSpPr>
            <a:spLocks noGrp="1"/>
          </p:cNvSpPr>
          <p:nvPr>
            <p:ph idx="1"/>
          </p:nvPr>
        </p:nvSpPr>
        <p:spPr>
          <a:xfrm>
            <a:off x="545432" y="357189"/>
            <a:ext cx="11053010" cy="6143624"/>
          </a:xfrm>
        </p:spPr>
        <p:txBody>
          <a:bodyPr/>
          <a:lstStyle/>
          <a:p>
            <a:r>
              <a:rPr lang="en-US" dirty="0"/>
              <a:t>The Resultant Dashboard for </a:t>
            </a:r>
            <a:r>
              <a:rPr lang="en-US" dirty="0" err="1"/>
              <a:t>Blinkit</a:t>
            </a:r>
            <a:r>
              <a:rPr lang="en-US" dirty="0"/>
              <a:t> Grocery Data Analytics as:</a:t>
            </a:r>
            <a:endParaRPr lang="en-IN" dirty="0"/>
          </a:p>
        </p:txBody>
      </p:sp>
      <p:pic>
        <p:nvPicPr>
          <p:cNvPr id="4" name="Picture 3">
            <a:extLst>
              <a:ext uri="{FF2B5EF4-FFF2-40B4-BE49-F238E27FC236}">
                <a16:creationId xmlns:a16="http://schemas.microsoft.com/office/drawing/2014/main" id="{D38BACC5-9480-0ACB-8D1A-111FFECDC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557" y="1047404"/>
            <a:ext cx="11036467" cy="5453408"/>
          </a:xfrm>
          <a:prstGeom prst="rect">
            <a:avLst/>
          </a:prstGeom>
        </p:spPr>
      </p:pic>
    </p:spTree>
    <p:extLst>
      <p:ext uri="{BB962C8B-B14F-4D97-AF65-F5344CB8AC3E}">
        <p14:creationId xmlns:p14="http://schemas.microsoft.com/office/powerpoint/2010/main" val="2581413917"/>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292DA-56A9-D8A9-4118-06C52E857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1E48B-F7DA-3469-4BE8-B880C3EBC08E}"/>
              </a:ext>
            </a:extLst>
          </p:cNvPr>
          <p:cNvSpPr>
            <a:spLocks noGrp="1"/>
          </p:cNvSpPr>
          <p:nvPr>
            <p:ph type="title"/>
          </p:nvPr>
        </p:nvSpPr>
        <p:spPr>
          <a:xfrm>
            <a:off x="838200" y="365125"/>
            <a:ext cx="10515600" cy="540000"/>
          </a:xfrm>
        </p:spPr>
        <p:txBody>
          <a:bodyPr>
            <a:noAutofit/>
          </a:bodyPr>
          <a:lstStyle/>
          <a:p>
            <a:r>
              <a:rPr lang="en-US" sz="3200" b="1" dirty="0"/>
              <a:t>4. </a:t>
            </a:r>
            <a:r>
              <a:rPr lang="en-US" sz="3200" b="1" u="sng" dirty="0"/>
              <a:t>Amazon Sales Dashboard</a:t>
            </a:r>
            <a:r>
              <a:rPr lang="en-US" sz="3200" b="1" dirty="0"/>
              <a:t>:</a:t>
            </a:r>
            <a:endParaRPr lang="en-IN" sz="3200" b="1" dirty="0"/>
          </a:p>
        </p:txBody>
      </p:sp>
      <p:sp>
        <p:nvSpPr>
          <p:cNvPr id="3" name="Content Placeholder 2">
            <a:extLst>
              <a:ext uri="{FF2B5EF4-FFF2-40B4-BE49-F238E27FC236}">
                <a16:creationId xmlns:a16="http://schemas.microsoft.com/office/drawing/2014/main" id="{01373851-2999-155B-92A7-B22B92E547FE}"/>
              </a:ext>
            </a:extLst>
          </p:cNvPr>
          <p:cNvSpPr>
            <a:spLocks noGrp="1"/>
          </p:cNvSpPr>
          <p:nvPr>
            <p:ph idx="1"/>
          </p:nvPr>
        </p:nvSpPr>
        <p:spPr>
          <a:xfrm>
            <a:off x="838200" y="1074821"/>
            <a:ext cx="10515600" cy="5418054"/>
          </a:xfrm>
        </p:spPr>
        <p:txBody>
          <a:bodyPr>
            <a:normAutofit/>
          </a:bodyPr>
          <a:lstStyle/>
          <a:p>
            <a:r>
              <a:rPr lang="en-IN" sz="2400" dirty="0"/>
              <a:t>Amazon Sales Dashboard shows Amazon sales data related City wise, State wise, Product wise sales.</a:t>
            </a:r>
          </a:p>
          <a:p>
            <a:r>
              <a:rPr lang="en-IN" sz="2400" dirty="0"/>
              <a:t>We find Units sales and their respective Total Amounts and find out Target with actual to get difference of both entities. We use Pivot Slicers in a Blank Sheet grouped together showing each KPI required.</a:t>
            </a:r>
          </a:p>
          <a:p>
            <a:r>
              <a:rPr lang="en-IN" sz="2400" dirty="0"/>
              <a:t>A Line chart shows Sales data for City wise,  a Bar chart shows Product wise Sales and Doughnut charts to show Sales and Units in Percentage format.</a:t>
            </a:r>
          </a:p>
          <a:p>
            <a:r>
              <a:rPr lang="en-IN" sz="2400" dirty="0"/>
              <a:t>All these charts are non-movable and only icons act as buttons added to move within other Sheets on same Workbook.</a:t>
            </a:r>
          </a:p>
          <a:p>
            <a:r>
              <a:rPr lang="en-IN" sz="2400" dirty="0"/>
              <a:t>This is only a Representational Fixed Dashboard Type with simple </a:t>
            </a:r>
            <a:r>
              <a:rPr lang="en-US" sz="2400" dirty="0"/>
              <a:t>functionality.</a:t>
            </a:r>
            <a:endParaRPr lang="en-IN" sz="2400" dirty="0"/>
          </a:p>
          <a:p>
            <a:endParaRPr lang="en-IN" sz="2400" dirty="0"/>
          </a:p>
          <a:p>
            <a:endParaRPr lang="en-IN" sz="2000" dirty="0"/>
          </a:p>
        </p:txBody>
      </p:sp>
    </p:spTree>
    <p:extLst>
      <p:ext uri="{BB962C8B-B14F-4D97-AF65-F5344CB8AC3E}">
        <p14:creationId xmlns:p14="http://schemas.microsoft.com/office/powerpoint/2010/main" val="2123084964"/>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25949C-775C-7FA1-064E-98BF5E6EC6C1}"/>
              </a:ext>
            </a:extLst>
          </p:cNvPr>
          <p:cNvSpPr>
            <a:spLocks noGrp="1"/>
          </p:cNvSpPr>
          <p:nvPr>
            <p:ph idx="1"/>
          </p:nvPr>
        </p:nvSpPr>
        <p:spPr>
          <a:xfrm>
            <a:off x="648393" y="382385"/>
            <a:ext cx="10972800" cy="6101542"/>
          </a:xfrm>
        </p:spPr>
        <p:txBody>
          <a:bodyPr/>
          <a:lstStyle/>
          <a:p>
            <a:r>
              <a:rPr lang="en-US" dirty="0"/>
              <a:t>Adding Excel Data of Amazon Sales:							</a:t>
            </a:r>
            <a:endParaRPr lang="en-IN" dirty="0"/>
          </a:p>
        </p:txBody>
      </p:sp>
      <p:pic>
        <p:nvPicPr>
          <p:cNvPr id="9" name="Picture 8">
            <a:extLst>
              <a:ext uri="{FF2B5EF4-FFF2-40B4-BE49-F238E27FC236}">
                <a16:creationId xmlns:a16="http://schemas.microsoft.com/office/drawing/2014/main" id="{2B9729A7-BEEB-5F6B-4CC6-DF727C961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808" y="855014"/>
            <a:ext cx="11050386" cy="5620601"/>
          </a:xfrm>
          <a:prstGeom prst="rect">
            <a:avLst/>
          </a:prstGeom>
        </p:spPr>
      </p:pic>
    </p:spTree>
    <p:extLst>
      <p:ext uri="{BB962C8B-B14F-4D97-AF65-F5344CB8AC3E}">
        <p14:creationId xmlns:p14="http://schemas.microsoft.com/office/powerpoint/2010/main" val="3749548668"/>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AA821C-FF4A-FBE3-219C-BBE5CD4BE7E9}"/>
              </a:ext>
            </a:extLst>
          </p:cNvPr>
          <p:cNvSpPr>
            <a:spLocks noGrp="1"/>
          </p:cNvSpPr>
          <p:nvPr>
            <p:ph idx="1"/>
          </p:nvPr>
        </p:nvSpPr>
        <p:spPr>
          <a:xfrm>
            <a:off x="532015" y="432262"/>
            <a:ext cx="11039301" cy="6068291"/>
          </a:xfrm>
        </p:spPr>
        <p:txBody>
          <a:bodyPr/>
          <a:lstStyle/>
          <a:p>
            <a:r>
              <a:rPr lang="en-US" dirty="0"/>
              <a:t>Adding KPI  and Sales Data Pivot Slicers Sheet:</a:t>
            </a:r>
          </a:p>
          <a:p>
            <a:pPr marL="0" indent="0">
              <a:buNone/>
            </a:pPr>
            <a:endParaRPr lang="en-IN" dirty="0"/>
          </a:p>
        </p:txBody>
      </p:sp>
      <p:pic>
        <p:nvPicPr>
          <p:cNvPr id="6" name="Picture 5">
            <a:extLst>
              <a:ext uri="{FF2B5EF4-FFF2-40B4-BE49-F238E27FC236}">
                <a16:creationId xmlns:a16="http://schemas.microsoft.com/office/drawing/2014/main" id="{F458ACC4-1818-7FF6-7807-2570D621C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75" y="919162"/>
            <a:ext cx="10839450" cy="5506576"/>
          </a:xfrm>
          <a:prstGeom prst="rect">
            <a:avLst/>
          </a:prstGeom>
        </p:spPr>
      </p:pic>
    </p:spTree>
    <p:extLst>
      <p:ext uri="{BB962C8B-B14F-4D97-AF65-F5344CB8AC3E}">
        <p14:creationId xmlns:p14="http://schemas.microsoft.com/office/powerpoint/2010/main" val="284063400"/>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7EC5B-9F6E-2545-73D3-B451B12595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78E886-20CC-C504-C939-F87CEF7DBE26}"/>
              </a:ext>
            </a:extLst>
          </p:cNvPr>
          <p:cNvSpPr>
            <a:spLocks noGrp="1"/>
          </p:cNvSpPr>
          <p:nvPr>
            <p:ph idx="1"/>
          </p:nvPr>
        </p:nvSpPr>
        <p:spPr>
          <a:xfrm>
            <a:off x="648393" y="382385"/>
            <a:ext cx="10972800" cy="6101542"/>
          </a:xfrm>
        </p:spPr>
        <p:txBody>
          <a:bodyPr/>
          <a:lstStyle/>
          <a:p>
            <a:r>
              <a:rPr lang="en-US" dirty="0"/>
              <a:t>Adding Final Excel Amazon Dashboard:</a:t>
            </a:r>
          </a:p>
          <a:p>
            <a:pPr marL="0" indent="0">
              <a:buNone/>
            </a:pPr>
            <a:r>
              <a:rPr lang="en-US" dirty="0"/>
              <a:t> 						</a:t>
            </a:r>
            <a:endParaRPr lang="en-IN" dirty="0"/>
          </a:p>
        </p:txBody>
      </p:sp>
      <p:pic>
        <p:nvPicPr>
          <p:cNvPr id="2" name="Picture 1">
            <a:extLst>
              <a:ext uri="{FF2B5EF4-FFF2-40B4-BE49-F238E27FC236}">
                <a16:creationId xmlns:a16="http://schemas.microsoft.com/office/drawing/2014/main" id="{FEA9BBB8-9161-A357-D200-D66074D1AE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806" y="980903"/>
            <a:ext cx="11050387" cy="5494712"/>
          </a:xfrm>
          <a:prstGeom prst="rect">
            <a:avLst/>
          </a:prstGeom>
        </p:spPr>
      </p:pic>
    </p:spTree>
    <p:extLst>
      <p:ext uri="{BB962C8B-B14F-4D97-AF65-F5344CB8AC3E}">
        <p14:creationId xmlns:p14="http://schemas.microsoft.com/office/powerpoint/2010/main" val="478345793"/>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06400-91D3-2A25-7360-6FF47D45C7B0}"/>
              </a:ext>
            </a:extLst>
          </p:cNvPr>
          <p:cNvSpPr>
            <a:spLocks noGrp="1"/>
          </p:cNvSpPr>
          <p:nvPr>
            <p:ph type="title"/>
          </p:nvPr>
        </p:nvSpPr>
        <p:spPr/>
        <p:txBody>
          <a:bodyPr/>
          <a:lstStyle/>
          <a:p>
            <a:pPr algn="r"/>
            <a:r>
              <a:rPr lang="en-US" dirty="0"/>
              <a:t>      </a:t>
            </a:r>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Thank You for Viewing PPT.</a:t>
            </a:r>
            <a:endParaRPr lang="en-IN" dirty="0">
              <a:solidFill>
                <a:schemeClr val="accent3">
                  <a:lumMod val="50000"/>
                </a:schemeClr>
              </a:solidFill>
            </a:endParaRPr>
          </a:p>
        </p:txBody>
      </p:sp>
    </p:spTree>
    <p:extLst>
      <p:ext uri="{BB962C8B-B14F-4D97-AF65-F5344CB8AC3E}">
        <p14:creationId xmlns:p14="http://schemas.microsoft.com/office/powerpoint/2010/main" val="4291036926"/>
      </p:ext>
    </p:extLst>
  </p:cSld>
  <p:clrMapOvr>
    <a:masterClrMapping/>
  </p:clrMapOvr>
  <mc:AlternateContent xmlns:mc="http://schemas.openxmlformats.org/markup-compatibility/2006" xmlns:p14="http://schemas.microsoft.com/office/powerpoint/2010/main">
    <mc:Choice Requires="p14">
      <p:transition spd="slow" p14:dur="50000" advTm="2000">
        <p:fade/>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TotalTime>
  <Words>822</Words>
  <Application>Microsoft Office PowerPoint</Application>
  <PresentationFormat>Widescreen</PresentationFormat>
  <Paragraphs>51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Segoe UI</vt:lpstr>
      <vt:lpstr>Office Theme</vt:lpstr>
      <vt:lpstr>Data Analytics Dashboard Projects</vt:lpstr>
      <vt:lpstr>Introduction:     </vt:lpstr>
      <vt:lpstr>1. Hotel Booking Cancellations:  </vt:lpstr>
      <vt:lpstr>PowerPoint Presentation</vt:lpstr>
      <vt:lpstr>PowerPoint Presentation</vt:lpstr>
      <vt:lpstr>2. D-Mart Sales and Profit Data Analytics:</vt:lpstr>
      <vt:lpstr>PowerPoint Presentation</vt:lpstr>
      <vt:lpstr>PowerPoint Presentation</vt:lpstr>
      <vt:lpstr>PowerPoint Presentation</vt:lpstr>
      <vt:lpstr>3. Blinkit Grocery Data Analytics:</vt:lpstr>
      <vt:lpstr>PowerPoint Presentation</vt:lpstr>
      <vt:lpstr>PowerPoint Presentation</vt:lpstr>
      <vt:lpstr>4. Amazon Sales Dashboard:</vt:lpstr>
      <vt:lpstr>PowerPoint Presentation</vt:lpstr>
      <vt:lpstr>PowerPoint Presentation</vt:lpstr>
      <vt:lpstr>PowerPoint Presentation</vt:lpstr>
      <vt:lpstr>      Thank You for Viewing PPT.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Praneet Mane</dc:creator>
  <cp:lastModifiedBy>Praneet Mane</cp:lastModifiedBy>
  <cp:revision>19</cp:revision>
  <dcterms:created xsi:type="dcterms:W3CDTF">2026-02-03T11:30:45Z</dcterms:created>
  <dcterms:modified xsi:type="dcterms:W3CDTF">2026-02-06T15:15:55Z</dcterms:modified>
</cp:coreProperties>
</file>